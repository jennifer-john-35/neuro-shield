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6681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548640"/>
            <a:ext cx="3474720" cy="3474720"/>
          </a:xfrm>
          <a:prstGeom prst="ellipse">
            <a:avLst/>
          </a:prstGeom>
          <a:solidFill>
            <a:srgbClr val="00E87A">
              <a:alpha val="5000"/>
            </a:srgbClr>
          </a:solidFill>
          <a:ln w="12700">
            <a:solidFill>
              <a:srgbClr val="00E87A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858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300" dirty="0">
                <a:solidFill>
                  <a:srgbClr val="00E8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NEURO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74320" y="1572768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SHIELD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74320" y="2651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Emergency &amp; Road Optimization Shield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3154680"/>
            <a:ext cx="4114800" cy="420624"/>
          </a:xfrm>
          <a:prstGeom prst="rect">
            <a:avLst/>
          </a:prstGeom>
          <a:solidFill>
            <a:srgbClr val="3D8BFF">
              <a:alpha val="22000"/>
            </a:srgbClr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15468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Safety Hackathon 2026 — BIMSTEC  ·  Track: RoadSoS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703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4041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Jennifer John  ·  Karnataka, India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530352"/>
            <a:ext cx="1920240" cy="1170432"/>
          </a:xfrm>
          <a:prstGeom prst="rect">
            <a:avLst/>
          </a:prstGeom>
          <a:solidFill>
            <a:srgbClr val="1A2340"/>
          </a:solidFill>
          <a:ln w="12700">
            <a:solidFill>
              <a:srgbClr val="FF3D5A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530352"/>
            <a:ext cx="1920240" cy="45720"/>
          </a:xfrm>
          <a:prstGeom prst="rect">
            <a:avLst/>
          </a:prstGeom>
          <a:solidFill>
            <a:srgbClr val="FF3D5A"/>
          </a:solidFill>
          <a:ln w="12700">
            <a:solidFill>
              <a:srgbClr val="FF3D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60350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3D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1.5L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58368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deaths/yr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(India)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2039112"/>
            <a:ext cx="1920240" cy="1170432"/>
          </a:xfrm>
          <a:prstGeom prst="rect">
            <a:avLst/>
          </a:prstGeom>
          <a:solidFill>
            <a:srgbClr val="1A2340"/>
          </a:solidFill>
          <a:ln w="12700">
            <a:solidFill>
              <a:srgbClr val="FFAA0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0" y="2039112"/>
            <a:ext cx="1920240" cy="4572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11226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58368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two-wheelers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3547872"/>
            <a:ext cx="1920240" cy="1170432"/>
          </a:xfrm>
          <a:prstGeom prst="rect">
            <a:avLst/>
          </a:prstGeom>
          <a:solidFill>
            <a:srgbClr val="1A2340"/>
          </a:solidFill>
          <a:ln w="12700">
            <a:solidFill>
              <a:srgbClr val="00E87A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3547872"/>
            <a:ext cx="1920240" cy="4572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62102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E8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58368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31B2E"/>
          </a:solidFill>
          <a:ln w="12700">
            <a:solidFill>
              <a:srgbClr val="13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4864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0" y="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68580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BIMSTEC, the Golden Hour is the most wasted hour."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788920" cy="2697480"/>
          </a:xfrm>
          <a:prstGeom prst="rect">
            <a:avLst/>
          </a:prstGeom>
          <a:solidFill>
            <a:srgbClr val="1A2340"/>
          </a:solidFill>
          <a:ln w="12700">
            <a:solidFill>
              <a:srgbClr val="FF3D5A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91640"/>
            <a:ext cx="2788920" cy="45720"/>
          </a:xfrm>
          <a:prstGeom prst="rect">
            <a:avLst/>
          </a:prstGeom>
          <a:solidFill>
            <a:srgbClr val="FF3D5A"/>
          </a:solidFill>
          <a:ln w="12700">
            <a:solidFill>
              <a:srgbClr val="FF3D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9222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❌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1480" y="23408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Crash Detection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761488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destroyed in a crash. No alert. First responders arrive 8–12 min late.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691640"/>
            <a:ext cx="2788920" cy="2697480"/>
          </a:xfrm>
          <a:prstGeom prst="rect">
            <a:avLst/>
          </a:prstGeom>
          <a:solidFill>
            <a:srgbClr val="1A2340"/>
          </a:solidFill>
          <a:ln w="12700">
            <a:solidFill>
              <a:srgbClr val="FFAA0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691640"/>
            <a:ext cx="2788920" cy="4572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79222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37560" y="23408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Victim Data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761488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group, allergies, contacts — all unknown at the roadside. Wrong treatment kills.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691640"/>
            <a:ext cx="2788920" cy="2697480"/>
          </a:xfrm>
          <a:prstGeom prst="rect">
            <a:avLst/>
          </a:prstGeom>
          <a:solidFill>
            <a:srgbClr val="1A2340"/>
          </a:solidFill>
          <a:ln w="12700">
            <a:solidFill>
              <a:srgbClr val="3D8B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691640"/>
            <a:ext cx="2788920" cy="45720"/>
          </a:xfrm>
          <a:prstGeom prst="rect">
            <a:avLst/>
          </a:prstGeom>
          <a:solidFill>
            <a:srgbClr val="3D8BFF"/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79222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🕳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63640" y="23408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Grey-Spots Invisible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2761488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Govts only fix blackspots after deaths. Dangerous zones accumulate undetected.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709160"/>
            <a:ext cx="8595360" cy="292608"/>
          </a:xfrm>
          <a:prstGeom prst="rect">
            <a:avLst/>
          </a:prstGeom>
          <a:solidFill>
            <a:srgbClr val="FF3D5A">
              <a:alpha val="10000"/>
            </a:srgbClr>
          </a:solidFill>
          <a:ln w="12700">
            <a:solidFill>
              <a:srgbClr val="FF3D5A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7091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1,50,000+ road deaths/yr in India  ·  70% involve two-wheelers  ·  BIMSTEC combined: 4,20,000+ deaths/yr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31B2E"/>
          </a:solidFill>
          <a:ln w="12700">
            <a:solidFill>
              <a:srgbClr val="13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4864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3-TIER PYTHON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0" y="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8595360" cy="1097280"/>
          </a:xfrm>
          <a:prstGeom prst="rect">
            <a:avLst/>
          </a:prstGeom>
          <a:solidFill>
            <a:srgbClr val="1A2340"/>
          </a:solidFill>
          <a:ln w="12700">
            <a:solidFill>
              <a:srgbClr val="00CCEE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685800"/>
            <a:ext cx="8595360" cy="45720"/>
          </a:xfrm>
          <a:prstGeom prst="rect">
            <a:avLst/>
          </a:prstGeom>
          <a:solidFill>
            <a:srgbClr val="00CCEE"/>
          </a:solidFill>
          <a:ln w="12700">
            <a:solidFill>
              <a:srgbClr val="00CC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40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· EDGE / IoT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9601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 Node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 + 6-axis IMU sensor · LSTM TFLite crash classifier · GPS · Bluetooth LE · LoRaWAN offline fallback for rural areas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40680" y="941832"/>
            <a:ext cx="630936" cy="246888"/>
          </a:xfrm>
          <a:prstGeom prst="rect">
            <a:avLst/>
          </a:prstGeom>
          <a:solidFill>
            <a:srgbClr val="00CCEE">
              <a:alpha val="20000"/>
            </a:srgbClr>
          </a:solidFill>
          <a:ln w="12700">
            <a:solidFill>
              <a:srgbClr val="00CCEE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941832"/>
            <a:ext cx="630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08192" y="941832"/>
            <a:ext cx="630936" cy="246888"/>
          </a:xfrm>
          <a:prstGeom prst="rect">
            <a:avLst/>
          </a:prstGeom>
          <a:solidFill>
            <a:srgbClr val="00CCEE">
              <a:alpha val="20000"/>
            </a:srgbClr>
          </a:solidFill>
          <a:ln w="12700">
            <a:solidFill>
              <a:srgbClr val="00CCEE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941832"/>
            <a:ext cx="630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75704" y="941832"/>
            <a:ext cx="630936" cy="246888"/>
          </a:xfrm>
          <a:prstGeom prst="rect">
            <a:avLst/>
          </a:prstGeom>
          <a:solidFill>
            <a:srgbClr val="00CCEE">
              <a:alpha val="20000"/>
            </a:srgbClr>
          </a:solidFill>
          <a:ln w="12700">
            <a:solidFill>
              <a:srgbClr val="00CCEE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75704" y="941832"/>
            <a:ext cx="630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443216" y="941832"/>
            <a:ext cx="630936" cy="246888"/>
          </a:xfrm>
          <a:prstGeom prst="rect">
            <a:avLst/>
          </a:prstGeom>
          <a:solidFill>
            <a:srgbClr val="00CCEE">
              <a:alpha val="20000"/>
            </a:srgbClr>
          </a:solidFill>
          <a:ln w="12700">
            <a:solidFill>
              <a:srgbClr val="00CCEE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43216" y="941832"/>
            <a:ext cx="630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110728" y="941832"/>
            <a:ext cx="630936" cy="246888"/>
          </a:xfrm>
          <a:prstGeom prst="rect">
            <a:avLst/>
          </a:prstGeom>
          <a:solidFill>
            <a:srgbClr val="00CCEE">
              <a:alpha val="20000"/>
            </a:srgbClr>
          </a:solidFill>
          <a:ln w="12700">
            <a:solidFill>
              <a:srgbClr val="00CCEE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0728" y="941832"/>
            <a:ext cx="630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BT-LE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0" y="17922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A80"/>
                </a:solidFill>
              </a:rPr>
              <a:t>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1993392"/>
            <a:ext cx="8595360" cy="1097280"/>
          </a:xfrm>
          <a:prstGeom prst="rect">
            <a:avLst/>
          </a:prstGeom>
          <a:solidFill>
            <a:srgbClr val="1A2340"/>
          </a:solidFill>
          <a:ln w="12700">
            <a:solidFill>
              <a:srgbClr val="00E87A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1993392"/>
            <a:ext cx="8595360" cy="4572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0482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RESPONDER MESH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226771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Emergency Response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7200" y="263347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Python API · V2X vehicle broadcast · QR Medical ID on helmet · Multilingual TTS alerts · Real-time SSE push to hospital dashboard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40680" y="2249424"/>
            <a:ext cx="630936" cy="246888"/>
          </a:xfrm>
          <a:prstGeom prst="rect">
            <a:avLst/>
          </a:prstGeom>
          <a:solidFill>
            <a:srgbClr val="00E87A">
              <a:alpha val="20000"/>
            </a:srgbClr>
          </a:solidFill>
          <a:ln w="12700">
            <a:solidFill>
              <a:srgbClr val="00E87A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2249424"/>
            <a:ext cx="630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08192" y="2249424"/>
            <a:ext cx="630936" cy="246888"/>
          </a:xfrm>
          <a:prstGeom prst="rect">
            <a:avLst/>
          </a:prstGeom>
          <a:solidFill>
            <a:srgbClr val="00E87A">
              <a:alpha val="20000"/>
            </a:srgbClr>
          </a:solidFill>
          <a:ln w="12700">
            <a:solidFill>
              <a:srgbClr val="00E87A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08192" y="2249424"/>
            <a:ext cx="630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775704" y="2249424"/>
            <a:ext cx="630936" cy="246888"/>
          </a:xfrm>
          <a:prstGeom prst="rect">
            <a:avLst/>
          </a:prstGeom>
          <a:solidFill>
            <a:srgbClr val="00E87A">
              <a:alpha val="20000"/>
            </a:srgbClr>
          </a:solidFill>
          <a:ln w="12700">
            <a:solidFill>
              <a:srgbClr val="00E87A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75704" y="2249424"/>
            <a:ext cx="630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ID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43216" y="2249424"/>
            <a:ext cx="630936" cy="246888"/>
          </a:xfrm>
          <a:prstGeom prst="rect">
            <a:avLst/>
          </a:prstGeom>
          <a:solidFill>
            <a:srgbClr val="00E87A">
              <a:alpha val="20000"/>
            </a:srgbClr>
          </a:solidFill>
          <a:ln w="12700">
            <a:solidFill>
              <a:srgbClr val="00E87A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43216" y="2249424"/>
            <a:ext cx="630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110728" y="2249424"/>
            <a:ext cx="630936" cy="246888"/>
          </a:xfrm>
          <a:prstGeom prst="rect">
            <a:avLst/>
          </a:prstGeom>
          <a:solidFill>
            <a:srgbClr val="00E87A">
              <a:alpha val="20000"/>
            </a:srgbClr>
          </a:solidFill>
          <a:ln w="12700">
            <a:solidFill>
              <a:srgbClr val="00E87A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10728" y="2249424"/>
            <a:ext cx="630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206240" y="309981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A80"/>
                </a:solidFill>
              </a:rPr>
              <a:t>↕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3300984"/>
            <a:ext cx="8595360" cy="1097280"/>
          </a:xfrm>
          <a:prstGeom prst="rect">
            <a:avLst/>
          </a:prstGeom>
          <a:solidFill>
            <a:srgbClr val="1A2340"/>
          </a:solidFill>
          <a:ln w="12700">
            <a:solidFill>
              <a:srgbClr val="33333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3300984"/>
            <a:ext cx="8595360" cy="4572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3558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ANALYTICS / AI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357530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Grey-Spot Predictor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57200" y="394106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spatial clustering of near-miss events · Random Forest predicts blackspots 6 months ahead · 2-city heatmap (Bengaluru + Dhaka) · CSV export for govt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40680" y="3557016"/>
            <a:ext cx="630936" cy="24688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333333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40680" y="3557016"/>
            <a:ext cx="630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108192" y="3557016"/>
            <a:ext cx="630936" cy="24688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333333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08192" y="3557016"/>
            <a:ext cx="630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 Forest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775704" y="3557016"/>
            <a:ext cx="630936" cy="24688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333333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75704" y="3557016"/>
            <a:ext cx="630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GeoPandas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443216" y="3557016"/>
            <a:ext cx="630936" cy="24688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333333">
                <a:alpha val="6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43216" y="3557016"/>
            <a:ext cx="630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10728" y="3557016"/>
            <a:ext cx="630936" cy="24688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333333">
                <a:alpha val="6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10728" y="3557016"/>
            <a:ext cx="630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4320" y="4709160"/>
            <a:ext cx="8595360" cy="292608"/>
          </a:xfrm>
          <a:prstGeom prst="rect">
            <a:avLst/>
          </a:prstGeom>
          <a:solidFill>
            <a:srgbClr val="00E87A">
              <a:alpha val="10000"/>
            </a:srgbClr>
          </a:solidFill>
          <a:ln w="12700">
            <a:solidFill>
              <a:srgbClr val="00E87A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7091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Federated Learning — privacy first  ·  ✓ LoRaWAN offline mesh  ·  ✓ BIMSTEC 8-nation protocol  ·  ✓ CO₂ Safety Nexus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31B2E"/>
          </a:solidFill>
          <a:ln w="12700">
            <a:solidFill>
              <a:srgbClr val="13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4864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CRASH TO HOSPITAL IN 12 SECONDS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0" y="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2743200" cy="1664208"/>
          </a:xfrm>
          <a:prstGeom prst="rect">
            <a:avLst/>
          </a:prstGeom>
          <a:solidFill>
            <a:srgbClr val="1A2340"/>
          </a:solidFill>
          <a:ln w="12700">
            <a:solidFill>
              <a:srgbClr val="00CCEE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31520"/>
            <a:ext cx="2743200" cy="45720"/>
          </a:xfrm>
          <a:prstGeom prst="rect">
            <a:avLst/>
          </a:prstGeom>
          <a:solidFill>
            <a:srgbClr val="00CCEE"/>
          </a:solidFill>
          <a:ln w="12700">
            <a:solidFill>
              <a:srgbClr val="00CC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229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42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Crash Detected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444752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on ESP32 classifies IMU as CRASH (96% confidence) in under 2ms. Works offline.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731520"/>
            <a:ext cx="2743200" cy="1664208"/>
          </a:xfrm>
          <a:prstGeom prst="rect">
            <a:avLst/>
          </a:prstGeom>
          <a:solidFill>
            <a:srgbClr val="1A2340"/>
          </a:solidFill>
          <a:ln w="12700">
            <a:solidFill>
              <a:srgbClr val="FF3D5A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731520"/>
            <a:ext cx="2743200" cy="45720"/>
          </a:xfrm>
          <a:prstGeom prst="rect">
            <a:avLst/>
          </a:prstGeom>
          <a:solidFill>
            <a:srgbClr val="FF3D5A"/>
          </a:solidFill>
          <a:ln w="12700">
            <a:solidFill>
              <a:srgbClr val="FF3D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8229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19272" y="1042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Flask API Alert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9272" y="1444752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receives POST /api/crash — finds nearest hospital, calculates EMS ETA.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1344" y="731520"/>
            <a:ext cx="2743200" cy="1664208"/>
          </a:xfrm>
          <a:prstGeom prst="rect">
            <a:avLst/>
          </a:prstGeom>
          <a:solidFill>
            <a:srgbClr val="1A2340"/>
          </a:solidFill>
          <a:ln w="12700">
            <a:solidFill>
              <a:srgbClr val="FFAA0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81344" y="731520"/>
            <a:ext cx="2743200" cy="4572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8229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72784" y="1042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📻 V2X Broadcast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72784" y="1444752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nearby vehicles alerted via Bluetooth LE in under 200ms. Trucks brake in time.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60320"/>
            <a:ext cx="2743200" cy="1664208"/>
          </a:xfrm>
          <a:prstGeom prst="rect">
            <a:avLst/>
          </a:prstGeom>
          <a:solidFill>
            <a:srgbClr val="1A2340"/>
          </a:solidFill>
          <a:ln w="12700">
            <a:solidFill>
              <a:srgbClr val="00E87A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560320"/>
            <a:ext cx="2743200" cy="4572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6517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28712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🪪 QR Medical ID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3273552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responder scans helmet sticker → blood group, allergies, contacts instantly.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27832" y="2560320"/>
            <a:ext cx="2743200" cy="1664208"/>
          </a:xfrm>
          <a:prstGeom prst="rect">
            <a:avLst/>
          </a:prstGeom>
          <a:solidFill>
            <a:srgbClr val="1A2340"/>
          </a:solidFill>
          <a:ln w="12700">
            <a:solidFill>
              <a:srgbClr val="33333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27832" y="2560320"/>
            <a:ext cx="2743200" cy="4572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9272" y="26517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19272" y="28712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Multilingual TTS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19272" y="3273552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detects India → Hindi audio alert to bystanders within 200m. Passive → active.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81344" y="2560320"/>
            <a:ext cx="2743200" cy="1664208"/>
          </a:xfrm>
          <a:prstGeom prst="rect">
            <a:avLst/>
          </a:prstGeom>
          <a:solidFill>
            <a:srgbClr val="1A2340"/>
          </a:solidFill>
          <a:ln w="12700">
            <a:solidFill>
              <a:srgbClr val="3D8B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81344" y="2560320"/>
            <a:ext cx="2743200" cy="45720"/>
          </a:xfrm>
          <a:prstGeom prst="rect">
            <a:avLst/>
          </a:prstGeom>
          <a:solidFill>
            <a:srgbClr val="3D8BFF"/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26517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72784" y="28712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Grey-Spot Updated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72784" y="3273552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Near-miss logged anonymously. K-Means reclusters. Heatmap updates in real time.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4709160"/>
            <a:ext cx="8595360" cy="292608"/>
          </a:xfrm>
          <a:prstGeom prst="rect">
            <a:avLst/>
          </a:prstGeom>
          <a:solidFill>
            <a:srgbClr val="00E87A">
              <a:alpha val="10000"/>
            </a:srgbClr>
          </a:solidFill>
          <a:ln w="12700">
            <a:solidFill>
              <a:srgbClr val="00E87A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7091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Crash → API → V2X → Hospital Dashboard → TTS → Grey-Spot Log  =  12 seconds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31B2E"/>
          </a:solidFill>
          <a:ln w="12700">
            <a:solidFill>
              <a:srgbClr val="13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4864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BIMSTEC SCALE &amp; OFFLINE-FIRST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0" y="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India — Bengaluru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804672"/>
            <a:ext cx="3200400" cy="182880"/>
          </a:xfrm>
          <a:prstGeom prst="rect">
            <a:avLst/>
          </a:prstGeom>
          <a:solidFill>
            <a:srgbClr val="1E2F52"/>
          </a:solidFill>
          <a:ln w="12700">
            <a:solidFill>
              <a:srgbClr val="1E2F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804672"/>
            <a:ext cx="2720340" cy="18288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7315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142 nodes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3898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🇧🇩  Bangladesh — Dhaka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1463040"/>
            <a:ext cx="3200400" cy="182880"/>
          </a:xfrm>
          <a:prstGeom prst="rect">
            <a:avLst/>
          </a:prstGeom>
          <a:solidFill>
            <a:srgbClr val="1E2F52"/>
          </a:solidFill>
          <a:ln w="12700">
            <a:solidFill>
              <a:srgbClr val="1E2F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1463040"/>
            <a:ext cx="320040" cy="18288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13898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heatmap included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20482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🇱🇰  Sri Lanka — Colombo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66160" y="2121408"/>
            <a:ext cx="3200400" cy="182880"/>
          </a:xfrm>
          <a:prstGeom prst="rect">
            <a:avLst/>
          </a:prstGeom>
          <a:solidFill>
            <a:srgbClr val="1E2F52"/>
          </a:solidFill>
          <a:ln w="12700">
            <a:solidFill>
              <a:srgbClr val="1E2F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2121408"/>
            <a:ext cx="256032" cy="18288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20482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27066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🇳🇵  Nepal — Kathmandu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66160" y="2779776"/>
            <a:ext cx="3200400" cy="182880"/>
          </a:xfrm>
          <a:prstGeom prst="rect">
            <a:avLst/>
          </a:prstGeom>
          <a:solidFill>
            <a:srgbClr val="1E2F52"/>
          </a:solidFill>
          <a:ln w="12700">
            <a:solidFill>
              <a:srgbClr val="1E2F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6160" y="2779776"/>
            <a:ext cx="576072" cy="182880"/>
          </a:xfrm>
          <a:prstGeom prst="rect">
            <a:avLst/>
          </a:prstGeom>
          <a:solidFill>
            <a:srgbClr val="3D8BFF"/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27066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ready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33649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🇹🇭  Thailand — Bangkok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566160" y="3438144"/>
            <a:ext cx="3200400" cy="182880"/>
          </a:xfrm>
          <a:prstGeom prst="rect">
            <a:avLst/>
          </a:prstGeom>
          <a:solidFill>
            <a:srgbClr val="1E2F52"/>
          </a:solidFill>
          <a:ln w="12700">
            <a:solidFill>
              <a:srgbClr val="1E2F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0" y="3438144"/>
            <a:ext cx="160020" cy="182880"/>
          </a:xfrm>
          <a:prstGeom prst="rect">
            <a:avLst/>
          </a:prstGeom>
          <a:solidFill>
            <a:srgbClr val="00CCEE"/>
          </a:solidFill>
          <a:ln w="12700">
            <a:solidFill>
              <a:srgbClr val="00CC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33649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compatible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40233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🇲🇲  Myanmar — Yangon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566160" y="4096512"/>
            <a:ext cx="3200400" cy="182880"/>
          </a:xfrm>
          <a:prstGeom prst="rect">
            <a:avLst/>
          </a:prstGeom>
          <a:solidFill>
            <a:srgbClr val="1E2F52"/>
          </a:solidFill>
          <a:ln w="12700">
            <a:solidFill>
              <a:srgbClr val="1E2F5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66160" y="4096512"/>
            <a:ext cx="160020" cy="182880"/>
          </a:xfrm>
          <a:prstGeom prst="rect">
            <a:avLst/>
          </a:prstGeom>
          <a:solidFill>
            <a:srgbClr val="00CCEE"/>
          </a:solidFill>
          <a:ln w="12700">
            <a:solidFill>
              <a:srgbClr val="00CC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4023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mesh capable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52360" y="731520"/>
            <a:ext cx="1572768" cy="1243584"/>
          </a:xfrm>
          <a:prstGeom prst="rect">
            <a:avLst/>
          </a:prstGeom>
          <a:solidFill>
            <a:srgbClr val="1A2340"/>
          </a:solidFill>
          <a:ln w="12700">
            <a:solidFill>
              <a:srgbClr val="3D8B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52360" y="731520"/>
            <a:ext cx="1572768" cy="45720"/>
          </a:xfrm>
          <a:prstGeom prst="rect">
            <a:avLst/>
          </a:prstGeom>
          <a:solidFill>
            <a:srgbClr val="3D8BFF"/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25512" y="822960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Offline Mesh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525512" y="1261872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5–15km range. Nepal mountains &amp; rural Myanmar. No 4G needed. Crash hops peer-to-peer.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452360" y="2103120"/>
            <a:ext cx="1572768" cy="1243584"/>
          </a:xfrm>
          <a:prstGeom prst="rect">
            <a:avLst/>
          </a:prstGeom>
          <a:solidFill>
            <a:srgbClr val="1A2340"/>
          </a:solidFill>
          <a:ln w="12700">
            <a:solidFill>
              <a:srgbClr val="AA5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52360" y="2103120"/>
            <a:ext cx="1572768" cy="45720"/>
          </a:xfrm>
          <a:prstGeom prst="rect">
            <a:avLst/>
          </a:prstGeom>
          <a:solidFill>
            <a:srgbClr val="AA55FF"/>
          </a:solidFill>
          <a:ln w="12700">
            <a:solidFill>
              <a:srgbClr val="AA55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25512" y="2194560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A5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Privacy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525512" y="2633472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GPS never leaves the device. Only model weights cross borders. BIMSTEC data law compliant.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52360" y="3474720"/>
            <a:ext cx="1572768" cy="1243584"/>
          </a:xfrm>
          <a:prstGeom prst="rect">
            <a:avLst/>
          </a:prstGeom>
          <a:solidFill>
            <a:srgbClr val="1A2340"/>
          </a:solidFill>
          <a:ln w="12700">
            <a:solidFill>
              <a:srgbClr val="00CCEE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452360" y="3474720"/>
            <a:ext cx="1572768" cy="45720"/>
          </a:xfrm>
          <a:prstGeom prst="rect">
            <a:avLst/>
          </a:prstGeom>
          <a:solidFill>
            <a:srgbClr val="00CCEE"/>
          </a:solidFill>
          <a:ln w="12700">
            <a:solidFill>
              <a:srgbClr val="00CC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25512" y="3566160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Codebase, 8 Nations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525512" y="4005072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Pre-loaded with all BIMSTEC language packs and LoRaWAN frequency plans. Pure Python.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" y="4709160"/>
            <a:ext cx="8595360" cy="292608"/>
          </a:xfrm>
          <a:prstGeom prst="rect">
            <a:avLst/>
          </a:prstGeom>
          <a:solidFill>
            <a:srgbClr val="3D8BFF">
              <a:alpha val="10000"/>
            </a:srgbClr>
          </a:solidFill>
          <a:ln w="12700">
            <a:solidFill>
              <a:srgbClr val="3D8BFF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7091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offline coverage via LoRaWAN  ·  No raw GPS crosses any border  ·  CO₂ reported to BIMSTEC Energy Centre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31B2E"/>
          </a:solidFill>
          <a:ln w="12700">
            <a:solidFill>
              <a:srgbClr val="13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4864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BUSINESS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0" y="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4663440" cy="877824"/>
          </a:xfrm>
          <a:prstGeom prst="rect">
            <a:avLst/>
          </a:prstGeom>
          <a:solidFill>
            <a:srgbClr val="1A2340"/>
          </a:solidFill>
          <a:ln w="12700">
            <a:solidFill>
              <a:srgbClr val="00E87A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31520"/>
            <a:ext cx="4663440" cy="4572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046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Usage-Based Insurance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1704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Safe-riding data → UBI partnerships → lower premiums for safe riders.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37360"/>
            <a:ext cx="4663440" cy="877824"/>
          </a:xfrm>
          <a:prstGeom prst="rect">
            <a:avLst/>
          </a:prstGeom>
          <a:solidFill>
            <a:srgbClr val="1A2340"/>
          </a:solidFill>
          <a:ln w="12700">
            <a:solidFill>
              <a:srgbClr val="3D8B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37360"/>
            <a:ext cx="4663440" cy="45720"/>
          </a:xfrm>
          <a:prstGeom prst="rect">
            <a:avLst/>
          </a:prstGeom>
          <a:solidFill>
            <a:srgbClr val="3D8BFF"/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1051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Government Node Subsidy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1762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₹1,400/unit → ₹800 at 10k scale. Transport ministry co-funding model.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4663440" cy="877824"/>
          </a:xfrm>
          <a:prstGeom prst="rect">
            <a:avLst/>
          </a:prstGeom>
          <a:solidFill>
            <a:srgbClr val="1A2340"/>
          </a:solidFill>
          <a:ln w="12700">
            <a:solidFill>
              <a:srgbClr val="FFAA0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43200"/>
            <a:ext cx="4663440" cy="4572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1635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CO₂ / Climate Grants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1821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Hard-brake CO₂ data → BIMSTEC Energy Centre → unlocks climate grant funding.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57800" y="731520"/>
            <a:ext cx="1920240" cy="1170432"/>
          </a:xfrm>
          <a:prstGeom prst="rect">
            <a:avLst/>
          </a:prstGeom>
          <a:solidFill>
            <a:srgbClr val="1A2340"/>
          </a:solidFill>
          <a:ln w="12700">
            <a:solidFill>
              <a:srgbClr val="00E87A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57800" y="731520"/>
            <a:ext cx="1920240" cy="4572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80467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E8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257800" y="1481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faster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23760" y="731520"/>
            <a:ext cx="1920240" cy="1170432"/>
          </a:xfrm>
          <a:prstGeom prst="rect">
            <a:avLst/>
          </a:prstGeom>
          <a:solidFill>
            <a:srgbClr val="1A2340"/>
          </a:solidFill>
          <a:ln w="12700">
            <a:solidFill>
              <a:srgbClr val="00CCEE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23760" y="731520"/>
            <a:ext cx="1920240" cy="45720"/>
          </a:xfrm>
          <a:prstGeom prst="rect">
            <a:avLst/>
          </a:prstGeom>
          <a:solidFill>
            <a:srgbClr val="00CCEE"/>
          </a:solidFill>
          <a:ln w="12700">
            <a:solidFill>
              <a:srgbClr val="00CC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80467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C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7223760" y="1481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crashes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57800" y="2029968"/>
            <a:ext cx="1920240" cy="1170432"/>
          </a:xfrm>
          <a:prstGeom prst="rect">
            <a:avLst/>
          </a:prstGeom>
          <a:solidFill>
            <a:srgbClr val="1A2340"/>
          </a:solidFill>
          <a:ln w="12700">
            <a:solidFill>
              <a:srgbClr val="3D8B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257800" y="2029968"/>
            <a:ext cx="1920240" cy="45720"/>
          </a:xfrm>
          <a:prstGeom prst="rect">
            <a:avLst/>
          </a:prstGeom>
          <a:solidFill>
            <a:srgbClr val="3D8BFF"/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21031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D8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5257800" y="27797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accuracy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23760" y="2029968"/>
            <a:ext cx="1920240" cy="1170432"/>
          </a:xfrm>
          <a:prstGeom prst="rect">
            <a:avLst/>
          </a:prstGeom>
          <a:solidFill>
            <a:srgbClr val="1A2340"/>
          </a:solidFill>
          <a:ln w="12700">
            <a:solidFill>
              <a:srgbClr val="FFAA0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23760" y="2029968"/>
            <a:ext cx="1920240" cy="4572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21031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12.4t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7223760" y="27797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saved/yr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 nodes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57800" y="3328416"/>
            <a:ext cx="1920240" cy="1170432"/>
          </a:xfrm>
          <a:prstGeom prst="rect">
            <a:avLst/>
          </a:prstGeom>
          <a:solidFill>
            <a:srgbClr val="1A2340"/>
          </a:solidFill>
          <a:ln w="12700">
            <a:solidFill>
              <a:srgbClr val="AA5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257800" y="3328416"/>
            <a:ext cx="1920240" cy="45720"/>
          </a:xfrm>
          <a:prstGeom prst="rect">
            <a:avLst/>
          </a:prstGeom>
          <a:solidFill>
            <a:srgbClr val="AA55FF"/>
          </a:solidFill>
          <a:ln w="12700">
            <a:solidFill>
              <a:srgbClr val="AA55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7800" y="340156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A5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₹800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5257800" y="40782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23760" y="3328416"/>
            <a:ext cx="1920240" cy="1170432"/>
          </a:xfrm>
          <a:prstGeom prst="rect">
            <a:avLst/>
          </a:prstGeom>
          <a:solidFill>
            <a:srgbClr val="1A2340"/>
          </a:solidFill>
          <a:ln w="12700">
            <a:solidFill>
              <a:srgbClr val="00E87A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223760" y="3328416"/>
            <a:ext cx="1920240" cy="4572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23760" y="340156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E8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7223760" y="40782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BIMSTEC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4709160"/>
            <a:ext cx="8595360" cy="292608"/>
          </a:xfrm>
          <a:prstGeom prst="rect">
            <a:avLst/>
          </a:prstGeom>
          <a:solidFill>
            <a:srgbClr val="FFAA00">
              <a:alpha val="10000"/>
            </a:srgbClr>
          </a:solidFill>
          <a:ln w="12700">
            <a:solidFill>
              <a:srgbClr val="FFAA00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7091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Ministry + BIMSTEC Energy Centre dual-track funding  ·  Self-sustaining at 500 nodes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" cy="5143500"/>
          </a:xfrm>
          <a:prstGeom prst="rect">
            <a:avLst/>
          </a:prstGeom>
          <a:solidFill>
            <a:srgbClr val="1E2F52">
              <a:alpha val="12000"/>
            </a:srgbClr>
          </a:solidFill>
          <a:ln w="12700">
            <a:solidFill>
              <a:srgbClr val="1E2F52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0" y="0"/>
            <a:ext cx="594360" cy="5143500"/>
          </a:xfrm>
          <a:prstGeom prst="rect">
            <a:avLst/>
          </a:prstGeom>
          <a:solidFill>
            <a:srgbClr val="1E2F52">
              <a:alpha val="12000"/>
            </a:srgbClr>
          </a:solidFill>
          <a:ln w="12700">
            <a:solidFill>
              <a:srgbClr val="1E2F52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77440" y="0"/>
            <a:ext cx="594360" cy="5143500"/>
          </a:xfrm>
          <a:prstGeom prst="rect">
            <a:avLst/>
          </a:prstGeom>
          <a:solidFill>
            <a:srgbClr val="1E2F52">
              <a:alpha val="12000"/>
            </a:srgbClr>
          </a:solidFill>
          <a:ln w="12700">
            <a:solidFill>
              <a:srgbClr val="1E2F52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594360" cy="5143500"/>
          </a:xfrm>
          <a:prstGeom prst="rect">
            <a:avLst/>
          </a:prstGeom>
          <a:solidFill>
            <a:srgbClr val="1E2F52">
              <a:alpha val="12000"/>
            </a:srgbClr>
          </a:solidFill>
          <a:ln w="12700">
            <a:solidFill>
              <a:srgbClr val="1E2F52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0"/>
            <a:ext cx="594360" cy="5143500"/>
          </a:xfrm>
          <a:prstGeom prst="rect">
            <a:avLst/>
          </a:prstGeom>
          <a:solidFill>
            <a:srgbClr val="1E2F52">
              <a:alpha val="12000"/>
            </a:srgbClr>
          </a:solidFill>
          <a:ln w="12700">
            <a:solidFill>
              <a:srgbClr val="1E2F52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0"/>
            <a:ext cx="594360" cy="5143500"/>
          </a:xfrm>
          <a:prstGeom prst="rect">
            <a:avLst/>
          </a:prstGeom>
          <a:solidFill>
            <a:srgbClr val="1E2F52">
              <a:alpha val="12000"/>
            </a:srgbClr>
          </a:solidFill>
          <a:ln w="12700">
            <a:solidFill>
              <a:srgbClr val="1E2F52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0"/>
            <a:ext cx="594360" cy="5143500"/>
          </a:xfrm>
          <a:prstGeom prst="rect">
            <a:avLst/>
          </a:prstGeom>
          <a:solidFill>
            <a:srgbClr val="1E2F52">
              <a:alpha val="12000"/>
            </a:srgbClr>
          </a:solidFill>
          <a:ln w="12700">
            <a:solidFill>
              <a:srgbClr val="1E2F52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-7034"/>
            <a:ext cx="594360" cy="5143500"/>
          </a:xfrm>
          <a:prstGeom prst="rect">
            <a:avLst/>
          </a:prstGeom>
          <a:solidFill>
            <a:srgbClr val="1E2F52">
              <a:alpha val="12000"/>
            </a:srgbClr>
          </a:solidFill>
          <a:ln w="12700">
            <a:solidFill>
              <a:srgbClr val="1E2F52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82880"/>
            <a:ext cx="4572000" cy="4572000"/>
          </a:xfrm>
          <a:prstGeom prst="ellipse">
            <a:avLst/>
          </a:prstGeom>
          <a:solidFill>
            <a:srgbClr val="00E87A">
              <a:alpha val="5000"/>
            </a:srgbClr>
          </a:solidFill>
          <a:ln w="12700">
            <a:solidFill>
              <a:srgbClr val="00E87A">
                <a:alpha val="1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54864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Detect. Respond. Prevent.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280160" y="2487168"/>
            <a:ext cx="1920240" cy="1170432"/>
          </a:xfrm>
          <a:prstGeom prst="rect">
            <a:avLst/>
          </a:prstGeom>
          <a:solidFill>
            <a:srgbClr val="1A2340"/>
          </a:solidFill>
          <a:ln w="12700">
            <a:solidFill>
              <a:srgbClr val="00E87A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280160" y="2487168"/>
            <a:ext cx="1920240" cy="4572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25603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E8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280160" y="32369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11880" y="2487168"/>
            <a:ext cx="1920240" cy="1170432"/>
          </a:xfrm>
          <a:prstGeom prst="rect">
            <a:avLst/>
          </a:prstGeom>
          <a:solidFill>
            <a:srgbClr val="1A2340"/>
          </a:solidFill>
          <a:ln w="12700">
            <a:solidFill>
              <a:srgbClr val="00CCEE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11880" y="2487168"/>
            <a:ext cx="1920240" cy="45720"/>
          </a:xfrm>
          <a:prstGeom prst="rect">
            <a:avLst/>
          </a:prstGeom>
          <a:solidFill>
            <a:srgbClr val="00CCEE"/>
          </a:solidFill>
          <a:ln w="12700">
            <a:solidFill>
              <a:srgbClr val="00CC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5603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C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3611880" y="32369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Crashes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2487168"/>
            <a:ext cx="1920240" cy="1170432"/>
          </a:xfrm>
          <a:prstGeom prst="rect">
            <a:avLst/>
          </a:prstGeom>
          <a:solidFill>
            <a:srgbClr val="1A2340"/>
          </a:solidFill>
          <a:ln w="12700">
            <a:solidFill>
              <a:srgbClr val="3D8B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0" y="2487168"/>
            <a:ext cx="1920240" cy="45720"/>
          </a:xfrm>
          <a:prstGeom prst="rect">
            <a:avLst/>
          </a:prstGeom>
          <a:solidFill>
            <a:srgbClr val="3D8BFF"/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25603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D8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5943600" y="32369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BIMSTEC Nations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005072"/>
            <a:ext cx="8229600" cy="621792"/>
          </a:xfrm>
          <a:prstGeom prst="rect">
            <a:avLst/>
          </a:prstGeom>
          <a:solidFill>
            <a:srgbClr val="1A2340"/>
          </a:solidFill>
          <a:ln w="12700">
            <a:solidFill>
              <a:srgbClr val="1E2F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050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A80"/>
                </a:solidFill>
              </a:rPr>
              <a:t>Stack: </a:t>
            </a:r>
            <a:r>
              <a:rPr lang="en-US" sz="1100" b="1" dirty="0">
                <a:solidFill>
                  <a:srgbClr val="00E87A"/>
                </a:solidFill>
              </a:rPr>
              <a:t>Python · Flask · Jinja2 · LSTM · TFLite · scikit-learn · Leaflet.js · SSE · LoRaWAN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Safety Hackathon 2026 — BIMSTEC  ·  Track: </a:t>
            </a:r>
            <a:r>
              <a:rPr lang="en-US" sz="1000" dirty="0" err="1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RoadSoS</a:t>
            </a:r>
            <a:r>
              <a:rPr lang="en-US" sz="10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725</Words>
  <Application>Microsoft Office PowerPoint</Application>
  <PresentationFormat>On-screen Show (16:9)</PresentationFormat>
  <Paragraphs>140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NEURO-SHIELD — BIMSTEC Road Safety Hackathon 2026</dc:title>
  <dc:subject>PptxGenJS Presentation</dc:subject>
  <dc:creator>PptxGenJS</dc:creator>
  <cp:lastModifiedBy>Jennifer John</cp:lastModifiedBy>
  <cp:revision>3</cp:revision>
  <dcterms:created xsi:type="dcterms:W3CDTF">2026-05-09T18:09:29Z</dcterms:created>
  <dcterms:modified xsi:type="dcterms:W3CDTF">2026-05-10T07:11:38Z</dcterms:modified>
</cp:coreProperties>
</file>